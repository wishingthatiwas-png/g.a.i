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G.A.I. — 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6 October 2026 • v0.3.0-era architecture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Build an embodied autonomous-agent platform that can perceive, maintain itself, learn from consequences, remember, sleep, act and create — while staying measurable and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Engineering metaphor, not a claim of consciousness.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Native Linux embodied runtime</a:t>
            </a:r>
          </a:p>
          <a:p>
            <a:pPr>
              <a:spcAft>
                <a:spcPts val="1200"/>
              </a:spcAft>
              <a:defRPr sz="1600"/>
            </a:pPr>
            <a:r>
              <a:t>Nervous event bus + cell architecture</a:t>
            </a:r>
          </a:p>
          <a:p>
            <a:pPr>
              <a:spcAft>
                <a:spcPts val="1200"/>
              </a:spcAft>
              <a:defRPr sz="1600"/>
            </a:pPr>
            <a:r>
              <a:t>Homeostasis, instincts, chemistry, affect</a:t>
            </a:r>
          </a:p>
          <a:p>
            <a:pPr>
              <a:spcAft>
                <a:spcPts val="1200"/>
              </a:spcAft>
              <a:defRPr sz="1600"/>
            </a:pPr>
            <a:r>
              <a:t>Camera / audio / screen / system perception</a:t>
            </a:r>
          </a:p>
          <a:p>
            <a:pPr>
              <a:spcAft>
                <a:spcPts val="1200"/>
              </a:spcAft>
              <a:defRPr sz="1600"/>
            </a:pPr>
            <a:r>
              <a:t>Working + associative + long-term memory</a:t>
            </a:r>
          </a:p>
          <a:p>
            <a:pPr>
              <a:spcAft>
                <a:spcPts val="1200"/>
              </a:spcAft>
              <a:defRPr sz="1600"/>
            </a:pPr>
            <a:r>
              <a:t>Prediction, outcome learning and reward</a:t>
            </a:r>
          </a:p>
          <a:p>
            <a:pPr>
              <a:spcAft>
                <a:spcPts val="1200"/>
              </a:spcAft>
              <a:defRPr sz="1600"/>
            </a:pPr>
            <a:r>
              <a:t>Sleep/dream lifecycle + evolutionary parameters</a:t>
            </a:r>
          </a:p>
          <a:p>
            <a:pPr>
              <a:spcAft>
                <a:spcPts val="1200"/>
              </a:spcAft>
              <a:defRPr sz="1600"/>
            </a:pPr>
            <a:r>
              <a:t>PySide6 live monitor + recovery/snapshot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50876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Not finished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Camera reliability / graceful degradation</a:t>
            </a:r>
          </a:p>
          <a:p>
            <a:pPr>
              <a:spcAft>
                <a:spcPts val="1200"/>
              </a:spcAft>
              <a:defRPr sz="1600"/>
            </a:pPr>
            <a:r>
              <a:t>Clean single-instance runtime + startup</a:t>
            </a:r>
          </a:p>
          <a:p>
            <a:pPr>
              <a:spcAft>
                <a:spcPts val="1200"/>
              </a:spcAft>
              <a:defRPr sz="1600"/>
            </a:pPr>
            <a:r>
              <a:t>GUI visibility as an acceptance test</a:t>
            </a:r>
          </a:p>
          <a:p>
            <a:pPr>
              <a:spcAft>
                <a:spcPts val="1200"/>
              </a:spcAft>
              <a:defRPr sz="1600"/>
            </a:pPr>
            <a:r>
              <a:t>Clean pytest discovery and repository hygiene</a:t>
            </a:r>
          </a:p>
          <a:p>
            <a:pPr>
              <a:spcAft>
                <a:spcPts val="1200"/>
              </a:spcAft>
              <a:defRPr sz="1600"/>
            </a:pPr>
            <a:r>
              <a:t>End-to-end creative autonomy</a:t>
            </a:r>
          </a:p>
          <a:p>
            <a:pPr>
              <a:spcAft>
                <a:spcPts val="1200"/>
              </a:spcAft>
              <a:defRPr sz="1600"/>
            </a:pPr>
            <a:r>
              <a:t>Stronger semantic long-term memory</a:t>
            </a:r>
          </a:p>
          <a:p>
            <a:pPr>
              <a:spcAft>
                <a:spcPts val="1200"/>
              </a:spcAft>
              <a:defRPr sz="1600"/>
            </a:pPr>
            <a:r>
              <a:t>Self-directed experiments and planning</a:t>
            </a:r>
          </a:p>
          <a:p>
            <a:pPr>
              <a:spcAft>
                <a:spcPts val="1200"/>
              </a:spcAft>
              <a:defRPr sz="1600"/>
            </a:pPr>
            <a:r>
              <a:t>Distributed organs / fault isolation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organism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Environment → perception → internal body state → motivation → drives → prediction → control → action</a:t>
            </a:r>
          </a:p>
          <a:p>
            <a:pPr>
              <a:spcAft>
                <a:spcPts val="1200"/>
              </a:spcAft>
              <a:defRPr sz="2100"/>
            </a:pPr>
            <a:r>
              <a:t>Action → outcome → reward/prediction error → learning → changed future behaviour</a:t>
            </a:r>
          </a:p>
          <a:p>
            <a:pPr>
              <a:spcAft>
                <a:spcPts val="1200"/>
              </a:spcAft>
              <a:defRPr sz="2100"/>
            </a:pPr>
            <a:r>
              <a:t>Sleep → consolidation / decay / reconstruction → wake with retained structure</a:t>
            </a:r>
          </a:p>
          <a:p>
            <a:pPr>
              <a:spcAft>
                <a:spcPts val="1200"/>
              </a:spcAft>
              <a:defRPr sz="2100"/>
            </a:pPr>
            <a:r>
              <a:t>The nervous system is the backbone: typed, prioritised, correlated events connect the layers.</a:t>
            </a:r>
          </a:p>
          <a:p>
            <a:pPr>
              <a:spcAft>
                <a:spcPts val="1200"/>
              </a:spcAft>
              <a:defRPr sz="2100"/>
            </a:pPr>
            <a:r>
              <a:t>Key principle: internal variables should have causal consequences, not merely cosmetic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Memory: the architecture is now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Current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Working-memory cell</a:t>
            </a:r>
          </a:p>
          <a:p>
            <a:pPr>
              <a:spcAft>
                <a:spcPts val="1200"/>
              </a:spcAft>
              <a:defRPr sz="1600"/>
            </a:pPr>
            <a:r>
              <a:t>SQLite experience/event memory</a:t>
            </a:r>
          </a:p>
          <a:p>
            <a:pPr>
              <a:spcAft>
                <a:spcPts val="1200"/>
              </a:spcAft>
              <a:defRPr sz="1600"/>
            </a:pPr>
            <a:r>
              <a:t>Associative engrams + semantic network</a:t>
            </a:r>
          </a:p>
          <a:p>
            <a:pPr>
              <a:spcAft>
                <a:spcPts val="1200"/>
              </a:spcAft>
              <a:defRPr sz="1600"/>
            </a:pPr>
            <a:r>
              <a:t>Salience scoring</a:t>
            </a:r>
          </a:p>
          <a:p>
            <a:pPr>
              <a:spcAft>
                <a:spcPts val="1200"/>
              </a:spcAft>
              <a:defRPr sz="1600"/>
            </a:pPr>
            <a:r>
              <a:t>Decay / intentional forgetting</a:t>
            </a:r>
          </a:p>
          <a:p>
            <a:pPr>
              <a:spcAft>
                <a:spcPts val="1200"/>
              </a:spcAft>
              <a:defRPr sz="1600"/>
            </a:pPr>
            <a:r>
              <a:t>Sleep queue + symbolic reconstruction</a:t>
            </a:r>
          </a:p>
          <a:p>
            <a:pPr>
              <a:spcAft>
                <a:spcPts val="1200"/>
              </a:spcAft>
              <a:defRPr sz="1600"/>
            </a:pPr>
            <a:r>
              <a:t>Long-term archive and recovery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50876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Next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Stable constants ≠ memories</a:t>
            </a:r>
          </a:p>
          <a:p>
            <a:pPr>
              <a:spcAft>
                <a:spcPts val="1200"/>
              </a:spcAft>
              <a:defRPr sz="1600"/>
            </a:pPr>
            <a:r>
              <a:t>Episode-based short-term memory</a:t>
            </a:r>
          </a:p>
          <a:p>
            <a:pPr>
              <a:spcAft>
                <a:spcPts val="1200"/>
              </a:spcAft>
              <a:defRPr sz="1600"/>
            </a:pPr>
            <a:r>
              <a:t>Semantic + temporal retrieval</a:t>
            </a:r>
          </a:p>
          <a:p>
            <a:pPr>
              <a:spcAft>
                <a:spcPts val="1200"/>
              </a:spcAft>
              <a:defRPr sz="1600"/>
            </a:pPr>
            <a:r>
              <a:t>Contradiction / belief revision</a:t>
            </a:r>
          </a:p>
          <a:p>
            <a:pPr>
              <a:spcAft>
                <a:spcPts val="1200"/>
              </a:spcAft>
              <a:defRPr sz="1600"/>
            </a:pPr>
            <a:r>
              <a:t>Identity continuity and autobiographical indexing</a:t>
            </a:r>
          </a:p>
          <a:p>
            <a:pPr>
              <a:spcAft>
                <a:spcPts val="1200"/>
              </a:spcAft>
              <a:defRPr sz="1600"/>
            </a:pPr>
            <a:r>
              <a:t>SSD ↔ HDD tier migration</a:t>
            </a:r>
          </a:p>
          <a:p>
            <a:pPr>
              <a:spcAft>
                <a:spcPts val="1200"/>
              </a:spcAft>
              <a:defRPr sz="1600"/>
            </a:pPr>
            <a:r>
              <a:t>Measured retention and forgetting benchmarks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Learning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Learning lab: 4,000-tick stationary and context-shift runs were completed.</a:t>
            </a:r>
          </a:p>
          <a:p>
            <a:pPr>
              <a:spcAft>
                <a:spcPts val="1200"/>
              </a:spcAft>
              <a:defRPr sz="1900"/>
            </a:pPr>
            <a:r>
              <a:t>Learning-enabled runs show lower late prediction error than the no-learning shift control.</a:t>
            </a:r>
          </a:p>
          <a:p>
            <a:pPr>
              <a:spcAft>
                <a:spcPts val="1200"/>
              </a:spcAft>
              <a:defRPr sz="1900"/>
            </a:pPr>
            <a:r>
              <a:t>After a context shift, the learning-enabled system grows additional context models and adapts its action values.</a:t>
            </a:r>
          </a:p>
          <a:p>
            <a:pPr>
              <a:spcAft>
                <a:spcPts val="1200"/>
              </a:spcAft>
              <a:defRPr sz="1900"/>
            </a:pPr>
            <a:r>
              <a:t>Sleep/consolidation test: learned values survive the dream transition and post-wake reward remains close to pre-sleep performance.</a:t>
            </a:r>
          </a:p>
          <a:p>
            <a:pPr>
              <a:spcAft>
                <a:spcPts val="1200"/>
              </a:spcAft>
              <a:defRPr sz="1900"/>
            </a:pPr>
            <a:r>
              <a:t>Interpretation: promising evidence that the mechanisms work as engineered learning systems; not evidence of consciousness.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Experiments: from stress tests to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Controlled-run protocol uses one manipulated variable per run, fixed duration/checkpoints and immutable manifests.</a:t>
            </a:r>
          </a:p>
          <a:p>
            <a:pPr>
              <a:spcAft>
                <a:spcPts val="1200"/>
              </a:spcAft>
              <a:defRPr sz="1900"/>
            </a:pPr>
            <a:r>
              <a:t>Existing matrix: B0 baseline, M1 memory/energy low, P1 power/food low, P1-SIM, with P2 currently being advanced.</a:t>
            </a:r>
          </a:p>
          <a:p>
            <a:pPr>
              <a:spcAft>
                <a:spcPts val="1200"/>
              </a:spcAft>
              <a:defRPr sz="1900"/>
            </a:pPr>
            <a:r>
              <a:t>Safety rule: do not intentionally push the physical machine into thermal/electrical/resource limits.</a:t>
            </a:r>
          </a:p>
          <a:p>
            <a:pPr>
              <a:spcAft>
                <a:spcPts val="1200"/>
              </a:spcAft>
              <a:defRPr sz="1900"/>
            </a:pPr>
            <a:r>
              <a:t>Next: complete power/workload matrix, aggregate effect sizes, repeatability and failure-mode analysis.</a:t>
            </a:r>
          </a:p>
          <a:p>
            <a:pPr>
              <a:spcAft>
                <a:spcPts val="1200"/>
              </a:spcAft>
              <a:defRPr sz="1900"/>
            </a:pPr>
            <a:r>
              <a:t>Then promote successful mechanisms into regression benchmarks.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Current verification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42 agent tests pass</a:t>
            </a:r>
          </a:p>
          <a:p>
            <a:pPr>
              <a:spcAft>
                <a:spcPts val="1200"/>
              </a:spcAft>
              <a:defRPr sz="1600"/>
            </a:pPr>
            <a:r>
              <a:t>Event routing shows zero drops/errors in captured healthy runs</a:t>
            </a:r>
          </a:p>
          <a:p>
            <a:pPr>
              <a:spcAft>
                <a:spcPts val="1200"/>
              </a:spcAft>
              <a:defRPr sz="1600"/>
            </a:pPr>
            <a:r>
              <a:t>Learning experiments have measurable outcomes</a:t>
            </a:r>
          </a:p>
          <a:p>
            <a:pPr>
              <a:spcAft>
                <a:spcPts val="1200"/>
              </a:spcAft>
              <a:defRPr sz="1600"/>
            </a:pPr>
            <a:r>
              <a:t>Snapshots and recovery assets exist</a:t>
            </a:r>
          </a:p>
          <a:p>
            <a:pPr>
              <a:spcAft>
                <a:spcPts val="1200"/>
              </a:spcAft>
              <a:defRPr sz="1600"/>
            </a:pPr>
            <a:r>
              <a:t>Multiple runtime subsystems are instrumented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508760"/>
            <a:ext cx="5166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Red / amber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2 agent tests fail: camera frame unavailable</a:t>
            </a:r>
          </a:p>
          <a:p>
            <a:pPr>
              <a:spcAft>
                <a:spcPts val="1200"/>
              </a:spcAft>
              <a:defRPr sz="1600"/>
            </a:pPr>
            <a:r>
              <a:t>Full pytest discovery hits archived duplicate test name</a:t>
            </a:r>
          </a:p>
          <a:p>
            <a:pPr>
              <a:spcAft>
                <a:spcPts val="1200"/>
              </a:spcAft>
              <a:defRPr sz="1600"/>
            </a:pPr>
            <a:r>
              <a:t>Multiple kernel processes are visible</a:t>
            </a:r>
          </a:p>
          <a:p>
            <a:pPr>
              <a:spcAft>
                <a:spcPts val="1200"/>
              </a:spcAft>
              <a:defRPr sz="1600"/>
            </a:pPr>
            <a:r>
              <a:t>GUI exists but reliable visibility/startup needs hardening</a:t>
            </a:r>
          </a:p>
          <a:p>
            <a:pPr>
              <a:spcAft>
                <a:spcPts val="1200"/>
              </a:spcAft>
              <a:defRPr sz="1600"/>
            </a:pPr>
            <a:r>
              <a:t>Git tree contains generated/runtime material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Proposed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kernel/ — orchestration, lifecycle, safety</a:t>
            </a:r>
          </a:p>
          <a:p>
            <a:pPr>
              <a:spcAft>
                <a:spcPts val="1200"/>
              </a:spcAft>
              <a:defRPr sz="1800"/>
            </a:pPr>
            <a:r>
              <a:t>body/ + senses/ — physical resources and sensory organs</a:t>
            </a:r>
          </a:p>
          <a:p>
            <a:pPr>
              <a:spcAft>
                <a:spcPts val="1200"/>
              </a:spcAft>
              <a:defRPr sz="1800"/>
            </a:pPr>
            <a:r>
              <a:t>nervous/ — event routing, cells, heartbeats</a:t>
            </a:r>
          </a:p>
          <a:p>
            <a:pPr>
              <a:spcAft>
                <a:spcPts val="1200"/>
              </a:spcAft>
              <a:defRPr sz="1800"/>
            </a:pPr>
            <a:r>
              <a:t>cognition/ — working memory, world model, prediction, planning, metacognition</a:t>
            </a:r>
          </a:p>
          <a:p>
            <a:pPr>
              <a:spcAft>
                <a:spcPts val="1200"/>
              </a:spcAft>
              <a:defRPr sz="1800"/>
            </a:pPr>
            <a:r>
              <a:t>motivation/ — homeostasis, instincts, drives, chemistry, affect</a:t>
            </a:r>
          </a:p>
          <a:p>
            <a:pPr>
              <a:spcAft>
                <a:spcPts val="1200"/>
              </a:spcAft>
              <a:defRPr sz="1800"/>
            </a:pPr>
            <a:r>
              <a:t>memory/ — constants, short-term, long-term, archive, consolidation</a:t>
            </a:r>
          </a:p>
          <a:p>
            <a:pPr>
              <a:spcAft>
                <a:spcPts val="1200"/>
              </a:spcAft>
              <a:defRPr sz="1800"/>
            </a:pPr>
            <a:r>
              <a:t>action/ — safe, creative, external</a:t>
            </a:r>
          </a:p>
          <a:p>
            <a:pPr>
              <a:spcAft>
                <a:spcPts val="1200"/>
              </a:spcAft>
              <a:defRPr sz="1800"/>
            </a:pPr>
            <a:r>
              <a:t>interface/ — monitor, chat, phenotype</a:t>
            </a:r>
          </a:p>
          <a:p>
            <a:pPr>
              <a:spcAft>
                <a:spcPts val="1200"/>
              </a:spcAft>
              <a:defRPr sz="1800"/>
            </a:pPr>
            <a:r>
              <a:t>lab/ + creative/ + data/ + models/ + docs/ + recovery/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PHASE 0 — Stabilise: startup, camera fallback, GUI acceptance, clean tests, one kernel</a:t>
            </a:r>
          </a:p>
          <a:p>
            <a:pPr>
              <a:spcAft>
                <a:spcPts val="1200"/>
              </a:spcAft>
              <a:defRPr sz="1800"/>
            </a:pPr>
            <a:r>
              <a:t>PHASE 1 — Close the loop: causal traces from sense → state → action → outcome → reward → learning</a:t>
            </a:r>
          </a:p>
          <a:p>
            <a:pPr>
              <a:spcAft>
                <a:spcPts val="1200"/>
              </a:spcAft>
              <a:defRPr sz="1800"/>
            </a:pPr>
            <a:r>
              <a:t>PHASE 2 — Memory: useful retrieval, identity, forgetting, HDD consolidation, sleep benchmarks</a:t>
            </a:r>
          </a:p>
          <a:p>
            <a:pPr>
              <a:spcAft>
                <a:spcPts val="1200"/>
              </a:spcAft>
              <a:defRPr sz="1800"/>
            </a:pPr>
            <a:r>
              <a:t>PHASE 3 — Agency: multi-step goals, planning, self-generated experiments, recovery</a:t>
            </a:r>
          </a:p>
          <a:p>
            <a:pPr>
              <a:spcAft>
                <a:spcPts val="1200"/>
              </a:spcAft>
              <a:defRPr sz="1800"/>
            </a:pPr>
            <a:r>
              <a:t>PHASE 4 — Creativity: text/image/paint creation, inspection, reward and portfolio</a:t>
            </a:r>
          </a:p>
          <a:p>
            <a:pPr>
              <a:spcAft>
                <a:spcPts val="1200"/>
              </a:spcAft>
              <a:defRPr sz="1800"/>
            </a:pPr>
            <a:r>
              <a:t>PHASE 5 — Metacognition: confidence, self-model, hypothesis tracking</a:t>
            </a:r>
          </a:p>
          <a:p>
            <a:pPr>
              <a:spcAft>
                <a:spcPts val="1200"/>
              </a:spcAft>
              <a:defRPr sz="1800"/>
            </a:pPr>
            <a:r>
              <a:t>PHASE 6 — Distributed body: authenticated organs, hot-plug, fault isolation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project aim — the north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Make the organism legible.</a:t>
            </a:r>
          </a:p>
          <a:p>
            <a:pPr>
              <a:spcBef>
                <a:spcPts val="1000"/>
              </a:spcBef>
              <a:defRPr sz="2100"/>
            </a:pPr>
            <a:r>
              <a:t>Build autonomy through measurable causal loops.</a:t>
            </a:r>
          </a:p>
          <a:p>
            <a:pPr>
              <a:spcBef>
                <a:spcPts val="1000"/>
              </a:spcBef>
              <a:defRPr sz="2100"/>
            </a:pPr>
            <a:r>
              <a:t>Reward useful behaviour, not activity for activity's sake.</a:t>
            </a:r>
          </a:p>
          <a:p>
            <a:pPr>
              <a:spcBef>
                <a:spcPts val="1000"/>
              </a:spcBef>
              <a:defRPr sz="2100"/>
            </a:pPr>
            <a:r>
              <a:t>Preserve memory without preserving noise.</a:t>
            </a:r>
          </a:p>
          <a:p>
            <a:pPr>
              <a:spcBef>
                <a:spcPts val="1000"/>
              </a:spcBef>
              <a:defRPr sz="2100"/>
            </a:pPr>
            <a:r>
              <a:t>Let experiments change the system — but make the changes observable and reversible.</a:t>
            </a:r>
          </a:p>
          <a:p>
            <a:pPr>
              <a:spcBef>
                <a:spcPts val="1000"/>
              </a:spcBef>
              <a:defRPr sz="2100"/>
            </a:pPr>
            <a:r>
              <a:t>Scale from one laptop body to a distributed body without losing the nervous-system abstraction.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Definition of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Wake, inspect body, perceive, choose, act, measure consequences and learn.</a:t>
            </a:r>
          </a:p>
          <a:p>
            <a:pPr>
              <a:spcAft>
                <a:spcPts val="1200"/>
              </a:spcAft>
              <a:defRPr sz="1800"/>
            </a:pPr>
            <a:r>
              <a:t>Remember salient experiences; forget low-value noise; consolidate during sleep.</a:t>
            </a:r>
          </a:p>
          <a:p>
            <a:pPr>
              <a:spcAft>
                <a:spcPts val="1200"/>
              </a:spcAft>
              <a:defRPr sz="1800"/>
            </a:pPr>
            <a:r>
              <a:t>Resume after sleep with useful retained knowledge.</a:t>
            </a:r>
          </a:p>
          <a:p>
            <a:pPr>
              <a:spcAft>
                <a:spcPts val="1200"/>
              </a:spcAft>
              <a:defRPr sz="1800"/>
            </a:pPr>
            <a:r>
              <a:t>Create and inspect useful artifacts autonomously.</a:t>
            </a:r>
          </a:p>
          <a:p>
            <a:pPr>
              <a:spcAft>
                <a:spcPts val="1200"/>
              </a:spcAft>
              <a:defRPr sz="1800"/>
            </a:pPr>
            <a:r>
              <a:t>Run bounded self-experiments and revise strategies.</a:t>
            </a:r>
          </a:p>
          <a:p>
            <a:pPr>
              <a:spcAft>
                <a:spcPts val="1200"/>
              </a:spcAft>
              <a:defRPr sz="1800"/>
            </a:pPr>
            <a:r>
              <a:t>Explain its state, evidence trail and uncertainty to a human.</a:t>
            </a:r>
          </a:p>
          <a:p>
            <a:pPr>
              <a:spcAft>
                <a:spcPts val="1200"/>
              </a:spcAft>
              <a:defRPr sz="1800"/>
            </a:pPr>
            <a:r>
              <a:t>Recover safely from failed organs, processes and experiments.</a:t>
            </a:r>
          </a:p>
          <a:p>
            <a:pPr>
              <a:spcAft>
                <a:spcPts val="1200"/>
              </a:spcAft>
              <a:defRPr sz="1800"/>
            </a:pPr>
            <a:r>
              <a:t>Remain reproducible: every important claim has a test, trace or experiment behind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Immediate next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Fix camera abstraction + no-camera test mode.</a:t>
            </a:r>
          </a:p>
          <a:p>
            <a:pPr>
              <a:spcAft>
                <a:spcPts val="1200"/>
              </a:spcAft>
              <a:defRPr sz="2000"/>
            </a:pPr>
            <a:r>
              <a:t>2. Make G.A.I. single-instance and make GUI startup/visibility testable.</a:t>
            </a:r>
          </a:p>
          <a:p>
            <a:pPr>
              <a:spcAft>
                <a:spcPts val="1200"/>
              </a:spcAft>
              <a:defRPr sz="2000"/>
            </a:pPr>
            <a:r>
              <a:t>3. Clean pytest discovery and source-control boundaries.</a:t>
            </a:r>
          </a:p>
          <a:p>
            <a:pPr>
              <a:spcAft>
                <a:spcPts val="1200"/>
              </a:spcAft>
              <a:defRPr sz="2000"/>
            </a:pPr>
            <a:r>
              <a:t>4. Finish the current controlled experiment matrix and publish a compact results table.</a:t>
            </a:r>
          </a:p>
          <a:p>
            <a:pPr>
              <a:spcAft>
                <a:spcPts val="1200"/>
              </a:spcAft>
              <a:defRPr sz="2000"/>
            </a:pPr>
            <a:r>
              <a:t>5. Finish the create → save → inspect → reward loop for text, image and paint artifacts.</a:t>
            </a:r>
          </a:p>
          <a:p>
            <a:pPr>
              <a:spcAft>
                <a:spcPts val="1200"/>
              </a:spcAft>
              <a:defRPr sz="2000"/>
            </a:pPr>
            <a:r>
              <a:t>6. Implement explicit constants / short-term / long-term memory contracts.</a:t>
            </a:r>
          </a:p>
          <a:p>
            <a:pPr>
              <a:spcAft>
                <a:spcPts val="1200"/>
              </a:spcAft>
              <a:defRPr sz="2000"/>
            </a:pPr>
            <a:r>
              <a:t>7. Only then refactor toward the proposed target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